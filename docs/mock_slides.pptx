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232000"/>
            <a:ext cx="2160000" cy="540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1695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ource Sans 3"/>
              </a:rPr>
              <a:t>phd_ui slide figures</a:t>
            </a:r>
          </a:p>
          <a:p>
            <a:r>
              <a:rPr sz="1500">
                <a:solidFill>
                  <a:srgbClr val="C9CEDA"/>
                </a:solidFill>
                <a:latin typeface="Source Sans 3"/>
              </a:rPr>
              <a:t>presentation presets at true size on a 16:9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slide_full - fills the body box under the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5684940"/>
            <a:ext cx="11160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slide - full width, with room for a takeaway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5684940"/>
            <a:ext cx="11160000" cy="36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6599" y="9302940"/>
            <a:ext cx="11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13B34"/>
                </a:solidFill>
                <a:latin typeface="Source Sans 3"/>
              </a:rPr>
              <a:t>slide  (31 x 10 cm)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599" y="964494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Conversion tracks the equilibrium limit above 240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slide_short - a band across the body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5684940"/>
            <a:ext cx="11160000" cy="23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6599" y="8042940"/>
            <a:ext cx="11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13B34"/>
                </a:solidFill>
                <a:latin typeface="Source Sans 3"/>
              </a:rPr>
              <a:t>slide_short  (31 x 6.5 cm)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599" y="838494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Steady over 40 h on stream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No deactivation at either feed ratio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slide_half - two figures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6404940"/>
            <a:ext cx="5220000" cy="36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6599" y="10022940"/>
            <a:ext cx="52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13B34"/>
                </a:solidFill>
                <a:latin typeface="Source Sans 3"/>
              </a:rPr>
              <a:t>slide_half  (14.5 x 10 cm)</a:t>
            </a:r>
          </a:p>
        </p:txBody>
      </p:sp>
      <p:pic>
        <p:nvPicPr>
          <p:cNvPr id="6" name="Picture 5" descr="slide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600" y="6404940"/>
            <a:ext cx="5220000" cy="36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6600" y="10022940"/>
            <a:ext cx="52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13B34"/>
                </a:solidFill>
                <a:latin typeface="Source Sans 3"/>
              </a:rPr>
              <a:t>slide_half  (14.5 x 10 cm)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slide_square - a square figure beside bullets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6599" y="5828939"/>
            <a:ext cx="52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Conversion rises with temperature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Selectivity peaks near 250 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Model matches the measured trend</a:t>
            </a:r>
          </a:p>
        </p:txBody>
      </p:sp>
      <p:pic>
        <p:nvPicPr>
          <p:cNvPr id="5" name="Picture 4" descr="slide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600" y="5684940"/>
            <a:ext cx="5220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full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colour scheme: fill tones, line tones, species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w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5684940"/>
            <a:ext cx="5220000" cy="5087878"/>
          </a:xfrm>
          <a:prstGeom prst="rect">
            <a:avLst/>
          </a:prstGeom>
        </p:spPr>
      </p:pic>
      <p:pic>
        <p:nvPicPr>
          <p:cNvPr id="5" name="Picture 4" descr="spec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600" y="5684940"/>
            <a:ext cx="5220000" cy="1537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56600" y="7438570"/>
            <a:ext cx="52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lines and markers take the line tone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bands, patches and drawings the base tone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a species keeps its hue in every figure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DRIFTS band colours follow the species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nds_slide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5684940"/>
            <a:ext cx="11305032" cy="2484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6599" y="8349060"/>
            <a:ext cx="11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hue = the species, the same in the atlas, the spectra and the MS traces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lightness = how far along the pathway, methoxy darker than methanol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formate pink as the methyl formate precursor, carbonates the two browns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typography: 2x point size on a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5684940"/>
            <a:ext cx="5364479" cy="3745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56600" y="5684940"/>
            <a:ext cx="52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0">
                <a:solidFill>
                  <a:srgbClr val="1D1A16"/>
                </a:solidFill>
                <a:latin typeface="Source Sans 3"/>
              </a:rPr>
              <a:t>Source Sans 3, 24 pt: the slide body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6600" y="6260940"/>
            <a:ext cx="52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0">
                <a:solidFill>
                  <a:srgbClr val="1D1A16"/>
                </a:solidFill>
                <a:latin typeface="Source Sans 3"/>
              </a:rPr>
              <a:t>Source Sans 3, 18 pt: a bullet, the same size as the axis labels beside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6600" y="6908939"/>
            <a:ext cx="52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0">
                <a:solidFill>
                  <a:srgbClr val="1D1A16"/>
                </a:solidFill>
                <a:latin typeface="Segoe UI"/>
              </a:rPr>
              <a:t>Segoe UI, 18 pt: the font used on the slides so far, for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6600" y="7700940"/>
            <a:ext cx="52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13B34"/>
                </a:solidFill>
                <a:latin typeface="Source Sans 3"/>
              </a:rPr>
              <a:t>figure: 16 pt ticks and legend, 18 pt axis labels, Source Serif 4 for maths; on paper the same figure has 8 and 9 pt, beside 10 pt body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Nature's palette, for drawings in Nature's style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5684940"/>
            <a:ext cx="5220000" cy="58085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56600" y="5828939"/>
            <a:ext cx="52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background families for context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main accents for the action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the extended set to categorise and group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  <a:latin typeface="Source Sans 3"/>
              </a:rPr>
              <a:t>•  for conceptual drawings, not for data figures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  <a:latin typeface="Source Sans 3"/>
              </a:rPr>
              <a:t>atoms and bonds: CPK, flat, true sizes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t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99" y="5684940"/>
            <a:ext cx="11160000" cy="607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